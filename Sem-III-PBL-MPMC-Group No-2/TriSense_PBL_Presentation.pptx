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AE214-A5C2-D32C-A2F5-3F019CD51008}" v="3" dt="2024-10-14T22:52:35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d16e4e681bd44cd6c77bb5d1b766398fab971faef3ea5eea198d65a376d66b40::" providerId="AD" clId="Web-{474AE214-A5C2-D32C-A2F5-3F019CD51008}"/>
    <pc:docChg chg="modSld">
      <pc:chgData name="Guest User" userId="S::urn:spo:anon#d16e4e681bd44cd6c77bb5d1b766398fab971faef3ea5eea198d65a376d66b40::" providerId="AD" clId="Web-{474AE214-A5C2-D32C-A2F5-3F019CD51008}" dt="2024-10-14T22:52:35.783" v="2"/>
      <pc:docMkLst>
        <pc:docMk/>
      </pc:docMkLst>
      <pc:sldChg chg="addSp delSp modSp">
        <pc:chgData name="Guest User" userId="S::urn:spo:anon#d16e4e681bd44cd6c77bb5d1b766398fab971faef3ea5eea198d65a376d66b40::" providerId="AD" clId="Web-{474AE214-A5C2-D32C-A2F5-3F019CD51008}" dt="2024-10-14T22:52:35.783" v="2"/>
        <pc:sldMkLst>
          <pc:docMk/>
          <pc:sldMk cId="2939095507" sldId="257"/>
        </pc:sldMkLst>
        <pc:picChg chg="mod">
          <ac:chgData name="Guest User" userId="S::urn:spo:anon#d16e4e681bd44cd6c77bb5d1b766398fab971faef3ea5eea198d65a376d66b40::" providerId="AD" clId="Web-{474AE214-A5C2-D32C-A2F5-3F019CD51008}" dt="2024-10-14T22:50:25.183" v="0" actId="1076"/>
          <ac:picMkLst>
            <pc:docMk/>
            <pc:sldMk cId="2939095507" sldId="257"/>
            <ac:picMk id="9" creationId="{4B20EA2B-214D-2616-C5FE-57DB97C8890B}"/>
          </ac:picMkLst>
        </pc:picChg>
        <pc:picChg chg="add del">
          <ac:chgData name="Guest User" userId="S::urn:spo:anon#d16e4e681bd44cd6c77bb5d1b766398fab971faef3ea5eea198d65a376d66b40::" providerId="AD" clId="Web-{474AE214-A5C2-D32C-A2F5-3F019CD51008}" dt="2024-10-14T22:52:35.783" v="2"/>
          <ac:picMkLst>
            <pc:docMk/>
            <pc:sldMk cId="2939095507" sldId="257"/>
            <ac:picMk id="10" creationId="{F76D7DA3-4D3F-10F0-E90A-7475AAAAC4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C5E9-394B-A4E4-F13F-B91FB0EA5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D685F-4C9E-DB63-6212-98FA11E1E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CA1FA-D4C7-44BD-59BA-B13EA273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6549C-1F93-B0D0-097E-B253B9C4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097F-1BF0-5C23-D470-50707A48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97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45FD-2BA9-437C-C023-E9E60F45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629E-1FA9-B6F8-9C4C-71A6D268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FCC9-030E-84AF-1539-EC70C243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F55F6-DC8B-FE2A-3B54-A018A0B2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83FD9-572B-A6E3-E7D9-A941DD4D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06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F260-33DD-98A5-3DF9-2E4FB781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BDA5E-6563-2606-34F9-1C0B069DD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428F5-CBA0-6B4D-61CA-BE18634F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22359-987E-5180-B9B5-EC3564D8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6ADEB-31EE-54C3-B31F-4D665452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78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2F79-AB20-6F70-985D-3D7DFA05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D25F-6DAD-93C1-60B0-8E1EA8C4B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4A87C-C975-5FBE-4166-ECC4EB723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AFA07-4E44-EF83-4152-878611B2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A2B26-89EF-52AC-F35A-7B1ACC81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AB844-53C1-E873-A292-371D6DF1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27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4C46-5AF6-A8BA-D1B0-7F280955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6F1AC-807E-F291-7139-8DB463B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3953B-C4CE-2125-2BDB-1711363F9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FC5E6-0C82-9269-398F-8CB6048F8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41AE4-7DD6-2BFA-BECA-A304BF419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E0E56-39BA-91AF-4BD4-AC6BADFF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5A8F8-BF37-0464-D7F4-D569AFDB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43619-A7E8-92EA-3A59-3A2E1AC3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401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6AB45-0085-5FB0-8489-71482DB3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6FA9B-5738-3535-3568-53536596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9D15B-6234-9A79-855B-48B04643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A7B4F-E829-849C-508F-F6182498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0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5C2A8-7EC7-B9A4-B33F-8AE1F9DC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2A95C8-1065-0AF8-9178-EC394E6E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92971-5032-DD2A-E5E9-41E9D454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84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EC43-6BDD-8FCC-6248-7383D025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226AD-781E-B5E6-5570-D3BAF043B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FF623-8F2E-D1CE-7D48-1F2F6EBA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874D7-667E-94BE-4733-B00C409B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93FEF-2BC3-BEBD-8685-0C95F837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8E885-D390-C84C-0D2A-26AEFC02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74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3E29-63A6-5F57-C27F-E6751215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6E899-5FF0-D4EA-424C-29B360B87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B9556-42F2-CFF7-51F3-63D5D0EF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916E5-C215-D56B-19C9-A3F7A04F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E42C1-7B96-C7FA-79BA-64DC04B3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681A2-54F5-A88F-34C5-4725D8F5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68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DA88-41F5-F2FB-B628-FA267F28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17765-E814-73B0-9686-33BF28FE0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39EED-8A25-CFB8-EF93-AA9CABC8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5770F-B9F7-5A8E-BAA2-44E2A152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8BE9-03EE-08A1-6425-DEAFE8E8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43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14C082-F2BD-E328-8198-597E8CE28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24048-382E-CC27-4A7E-9B0C0E7E9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D9DDA-21BE-8E8A-9C42-74B553D1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C95BD-05D1-D1B5-27AB-020914DB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74F23-7AA2-45CA-DF92-DA73AA1F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5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0CD37-828F-436A-5837-80E61E58F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84E4F-6D6E-B40D-74BF-D33312662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DD3F8-AF4E-B8CF-C175-8E558FE57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94D5E-E120-6565-6E5A-8A434721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A6A91-00AD-46B0-3537-A169BE24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20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3276-3A37-981A-6338-00FFBCF5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FBC62-415D-51EC-C83A-95DCA55A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38E8-9990-DABD-4BBD-E10AA509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FF335-605E-CA24-3BDB-13A6D8B9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119BA-1D0F-50BC-A735-A5BFBA27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857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5EA1-5770-03AB-7A81-E3D1F7E9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D92C1-AF3E-03AD-A038-0AC752B88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5EC7C-FA8E-7E19-2D3E-07DE8788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4648B-FE66-CB8D-F7AB-D94B791C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F22CB-668C-1D61-70BF-ECB7623E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98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DD91-E11F-C3A6-1984-14F39032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DD37-40A6-E45D-E8D4-17A1FE9B5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7144F-31FD-E208-05F7-57000CCA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BA42-2D34-6762-DD94-D57878E4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D3667-1CE7-FCA5-0366-9D391B72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28191-A428-4559-AD61-25062913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217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5B8D-A0EB-DA45-1043-AB3D47D9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8D46-A0D0-AEBD-4C60-CEFE21BE1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98DF7-B579-B8D5-804C-76CF82624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13F01-691A-FC1E-00C0-2BAAD8345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E69B6-B56E-A52E-A3F8-AFD0DFE0D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4DBB2-654B-9D35-5B3A-908A8DDD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16D7D-2943-B389-EAED-2F7C20FC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EB1E0-4364-90F1-9242-8B559596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004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18FF-9568-0E5D-4565-4171CCFD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BEE74-F453-34D6-0A25-FB04BEDA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199F7-827A-A1DC-9323-DE4DE7A5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65F7F-FC8A-D120-C304-2DF13BF1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225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4A4EE-F76F-6FC1-1329-A8E335CF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F5E92C-274F-E1C1-1298-B65AB63B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C244B-85B0-1AB2-D221-95BE1842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4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2168-4ACE-4FA3-461D-3645526D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04988-1841-4FC8-2461-83E1CC8A7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DCF91-14AE-F80D-AD28-994250477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2D5F2-1FAC-62E3-48E1-25C2FA20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61B65-1952-BF9F-3AB3-24F0D35D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D010E-55E7-5896-15C5-75132E83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236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3EC1-A0E5-5516-58E0-F4F57405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9AB59-122C-9E9C-9E35-C44104800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B8FF3-633D-5AB0-F31E-36BBF3D9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38586-7698-E9E1-1BCC-2778FE89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0B9B2-31D4-D1C6-4235-F78B071E8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43C52-C0F5-2FE6-2C69-C4C4C3C9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791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36AC-EFB0-784D-07D4-E860F824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A2890-925F-D913-130B-3E9036E72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ED74E-6923-B7AE-135B-E25FB05C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35AAE-EF1D-4FE9-CC43-D9365E8B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84D52-29A2-EFD4-FA0A-0C24EDCE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474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0673FE-6A7D-131D-F601-17D8F12F3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E268D-C8CA-61D1-B6D8-614E0CBCD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D2250-B96F-8112-A462-2B54B444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334FD-03A5-8887-0573-D1476EDF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E2ED4-D460-FC89-8107-16145937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52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0F3C1-65DE-DED5-1F99-A5B47B5F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9289C-8E87-113B-3291-9D49547A7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32E2A-008E-66D5-717F-1CF0B6B00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8EBFC-C10E-49B6-88D0-6A59BB03089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333A4-2B12-DB36-D4B0-09B70082C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2C8AF-7060-C7BB-B19A-449688EFD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3AB91-0E9B-4E49-BC45-E8C41032F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21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DF574-24F7-571E-D3BE-42EB26E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B9079-39E1-4E32-E176-9E5404254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FA945-2D41-2245-2E76-791FE6DB6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11E9F-7124-412E-9DFA-F07795F0254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AA65E-8A1D-E6C1-3C7C-8AD2310A5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B8535-E451-BE32-1367-2D4C08FCD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E671B-9246-41AD-B189-327D062D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11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B733AC-9B2B-24E9-1F6B-23DDC980729C}"/>
              </a:ext>
            </a:extLst>
          </p:cNvPr>
          <p:cNvSpPr txBox="1"/>
          <p:nvPr/>
        </p:nvSpPr>
        <p:spPr>
          <a:xfrm>
            <a:off x="1188720" y="2060000"/>
            <a:ext cx="9784080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TOPIC : “TriSense: A Gesture, Voice and Face-Based Contactless PC Control System with Arduino Feedback”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F73B6-164C-6EF1-8F31-C6F116A553A2}"/>
              </a:ext>
            </a:extLst>
          </p:cNvPr>
          <p:cNvSpPr txBox="1"/>
          <p:nvPr/>
        </p:nvSpPr>
        <p:spPr>
          <a:xfrm>
            <a:off x="2939803" y="0"/>
            <a:ext cx="6118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Bharati Vidyapeeth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(Deemed to be University)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College of Engineering, Pune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079CB-8B70-4FC1-CBC1-ECE924AE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3D2D45-2C84-4ED2-9C9C-53261234CD12}" type="slidenum">
              <a:rPr kumimoji="0" lang="en-I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142ED2-3D71-44F7-8388-C889B0DE2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180856"/>
              </p:ext>
            </p:extLst>
          </p:nvPr>
        </p:nvGraphicFramePr>
        <p:xfrm>
          <a:off x="2282161" y="3811074"/>
          <a:ext cx="7627677" cy="276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559">
                  <a:extLst>
                    <a:ext uri="{9D8B030D-6E8A-4147-A177-3AD203B41FA5}">
                      <a16:colId xmlns:a16="http://schemas.microsoft.com/office/drawing/2014/main" val="1321296556"/>
                    </a:ext>
                  </a:extLst>
                </a:gridCol>
                <a:gridCol w="2542559">
                  <a:extLst>
                    <a:ext uri="{9D8B030D-6E8A-4147-A177-3AD203B41FA5}">
                      <a16:colId xmlns:a16="http://schemas.microsoft.com/office/drawing/2014/main" val="2801820290"/>
                    </a:ext>
                  </a:extLst>
                </a:gridCol>
                <a:gridCol w="2542559">
                  <a:extLst>
                    <a:ext uri="{9D8B030D-6E8A-4147-A177-3AD203B41FA5}">
                      <a16:colId xmlns:a16="http://schemas.microsoft.com/office/drawing/2014/main" val="730438959"/>
                    </a:ext>
                  </a:extLst>
                </a:gridCol>
              </a:tblGrid>
              <a:tr h="461522">
                <a:tc>
                  <a:txBody>
                    <a:bodyPr/>
                    <a:lstStyle/>
                    <a:p>
                      <a:r>
                        <a:rPr lang="en-IN" dirty="0"/>
                        <a:t>ROLL NO.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720218"/>
                  </a:ext>
                </a:extLst>
              </a:tr>
              <a:tr h="461522"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Amit Gadade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2514110443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496065"/>
                  </a:ext>
                </a:extLst>
              </a:tr>
              <a:tr h="461522">
                <a:tc>
                  <a:txBody>
                    <a:bodyPr/>
                    <a:lstStyle/>
                    <a:p>
                      <a:r>
                        <a:rPr lang="en-IN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Piyush Kapile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2514110444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295182"/>
                  </a:ext>
                </a:extLst>
              </a:tr>
              <a:tr h="461522">
                <a:tc>
                  <a:txBody>
                    <a:bodyPr/>
                    <a:lstStyle/>
                    <a:p>
                      <a:r>
                        <a:rPr lang="en-IN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Kumar Pratyush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2514110450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622434"/>
                  </a:ext>
                </a:extLst>
              </a:tr>
              <a:tr h="461522">
                <a:tc>
                  <a:txBody>
                    <a:bodyPr/>
                    <a:lstStyle/>
                    <a:p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Basavaraj Kammar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2514110453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61564"/>
                  </a:ext>
                </a:extLst>
              </a:tr>
              <a:tr h="461522">
                <a:tc>
                  <a:txBody>
                    <a:bodyPr/>
                    <a:lstStyle/>
                    <a:p>
                      <a:r>
                        <a:rPr lang="en-IN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Shravan Chandore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2514110455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1996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C7AF2A1-9179-7EBD-F831-5CB0C3A874A5}"/>
              </a:ext>
            </a:extLst>
          </p:cNvPr>
          <p:cNvSpPr txBox="1"/>
          <p:nvPr/>
        </p:nvSpPr>
        <p:spPr>
          <a:xfrm>
            <a:off x="2229143" y="1601815"/>
            <a:ext cx="87116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OF INFORMATION TECHNOLOGY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8D8D4-B883-F274-8452-E93C6387A1F4}"/>
              </a:ext>
            </a:extLst>
          </p:cNvPr>
          <p:cNvSpPr txBox="1"/>
          <p:nvPr/>
        </p:nvSpPr>
        <p:spPr>
          <a:xfrm>
            <a:off x="1984310" y="2856906"/>
            <a:ext cx="7464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</a:t>
            </a:r>
            <a:r>
              <a:rPr kumimoji="0" lang="en-I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 the guidance of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Prof. Prakash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Devale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0EA2B-214D-2616-C5FE-57DB97C88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8" y="356707"/>
            <a:ext cx="1567542" cy="1569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6D7DA3-4D3F-10F0-E90A-7475AAAAC4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320" b="21919"/>
          <a:stretch/>
        </p:blipFill>
        <p:spPr>
          <a:xfrm>
            <a:off x="9839033" y="108266"/>
            <a:ext cx="2143125" cy="104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9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7607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6E6E6"/>
                </a:solidFill>
                <a:latin typeface="Arial"/>
              </a:rPr>
              <a:t>TriSense lets you control a Windows PC without touching it: hand gestures, voice commands and face/head movement become actions like volume, scroll, screenshot and lock.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E6E6E6"/>
                </a:solidFill>
                <a:latin typeface="Arial"/>
              </a:rPr>
              <a:t>The laptop does the heavy processing. An Arduino Uno acts as a physical control panel that switches modes and shows live feedback.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aHand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50342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12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Gesture</a:t>
            </a:r>
          </a:p>
        </p:txBody>
      </p:sp>
      <p:sp>
        <p:nvSpPr>
          <p:cNvPr id="7" name="Oval 6"/>
          <p:cNvSpPr/>
          <p:nvPr/>
        </p:nvSpPr>
        <p:spPr>
          <a:xfrm>
            <a:off x="2514600" y="4297680"/>
            <a:ext cx="822960" cy="82296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aMicro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40" y="450342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600" y="5212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Voice</a:t>
            </a:r>
          </a:p>
        </p:txBody>
      </p:sp>
      <p:sp>
        <p:nvSpPr>
          <p:cNvPr id="10" name="Oval 9"/>
          <p:cNvSpPr/>
          <p:nvPr/>
        </p:nvSpPr>
        <p:spPr>
          <a:xfrm>
            <a:off x="4480559" y="4297680"/>
            <a:ext cx="822960" cy="82296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4503420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59" y="5212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Face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91440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4846320" cy="393192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LAPTOP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2976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E6E6E6"/>
                </a:solidFill>
                <a:latin typeface="Arial"/>
              </a:rPr>
              <a:t>OpenCV + MediaPipe: hand gestures, face/head tracking, blink click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6E6"/>
                </a:solidFill>
                <a:latin typeface="Arial"/>
              </a:rPr>
              <a:t>Vosk: offline voice recognition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6E6"/>
                </a:solidFill>
                <a:latin typeface="Arial"/>
              </a:rPr>
              <a:t>pyautogui: volume, scroll, screenshot, lock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6E6"/>
                </a:solidFill>
                <a:latin typeface="Arial"/>
              </a:rPr>
              <a:t>Flask dashboard: live command log, mode toggles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1371600"/>
            <a:ext cx="4846320" cy="393192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68312" y="16002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ARDUINO UNO (control panel)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8312" y="2103120"/>
            <a:ext cx="42976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E6E6E6"/>
                </a:solidFill>
                <a:latin typeface="Arial"/>
              </a:rPr>
              <a:t>Push button cycles the modes (Gesture / Voice / Face)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6E6"/>
                </a:solidFill>
                <a:latin typeface="Arial"/>
              </a:rPr>
              <a:t>4 LEDs show the mode and errors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6E6"/>
                </a:solidFill>
                <a:latin typeface="Arial"/>
              </a:rPr>
              <a:t>16x2 I2C LCD shows the mode and last command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6E6"/>
                </a:solidFill>
                <a:latin typeface="Arial"/>
              </a:rPr>
              <a:t>Clone board with CH340 USB chip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32120" y="2377440"/>
            <a:ext cx="1124712" cy="365760"/>
          </a:xfrm>
          <a:prstGeom prst="rightArrow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eft Arrow 9"/>
          <p:cNvSpPr/>
          <p:nvPr/>
        </p:nvSpPr>
        <p:spPr>
          <a:xfrm>
            <a:off x="5532120" y="3749039"/>
            <a:ext cx="1124712" cy="365760"/>
          </a:xfrm>
          <a:prstGeom prst="leftArrow">
            <a:avLst/>
          </a:prstGeom>
          <a:solidFill>
            <a:srgbClr val="00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205740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B5B5B5"/>
                </a:solidFill>
                <a:latin typeface="Arial"/>
              </a:rPr>
              <a:t>MODE · CMD · ERR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206240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B5B5B5"/>
                </a:solidFill>
                <a:latin typeface="Arial"/>
              </a:rPr>
              <a:t>READY</a:t>
            </a:r>
          </a:p>
          <a:p>
            <a:pPr algn="ctr">
              <a:spcBef>
                <a:spcPts val="600"/>
              </a:spcBef>
            </a:pPr>
            <a:r>
              <a:rPr sz="1000" b="1">
                <a:solidFill>
                  <a:srgbClr val="B5B5B5"/>
                </a:solidFill>
                <a:latin typeface="Arial"/>
              </a:rPr>
              <a:t>BTN:PRESSED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5623560"/>
            <a:ext cx="5943600" cy="50292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USB serial  ·  9600 baud  ·  text messages  TYPE:VALUE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Key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35331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Laptop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19072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Runs OpenCV, MediaPipe, Vosk, pyautogui and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5915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Arduino 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24912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Physical control panel over USB serial (9600 baud)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6499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16x2 I2C LCD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30752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Shows the current mode and the last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7083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4 LEDs + 220 ohm resistors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36592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Blue, green, yellow = mode; red =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7667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Push Button + Breadboard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742432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Cycles modes; solder-free wiring with jumper wires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0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566160" cy="18745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38160" y="438912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Arduino Uno (CH340 clone)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Arduino Wiring (Breadboard, No Soldering)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LCD (I2C)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945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945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GND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VCC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432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5V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SDA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3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91839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7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SCL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84047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40479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Address 0x27 (try 0x3F if blank)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B5B5B5"/>
                </a:solidFill>
                <a:latin typeface="Arial"/>
              </a:rPr>
              <a:t>Library: LiquidCrystal_I2C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630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LEDs (220 ohm to GND)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2221991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21945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D8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94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Gesture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2907791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28803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D9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880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Voice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3593591"/>
            <a:ext cx="292608" cy="292608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35661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D10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5661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Face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4279392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42519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D11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251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Error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463040"/>
            <a:ext cx="3593592" cy="42976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169164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Push Button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A9B8FF"/>
                </a:solidFill>
                <a:latin typeface="Courier New"/>
              </a:rPr>
              <a:t>D2 → GND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92608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Use INPUT_PULLUP: LOW = pressed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E6E6E6"/>
                </a:solidFill>
                <a:latin typeface="Arial"/>
              </a:rPr>
              <a:t>Debounce the button in code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E6E6E6"/>
                </a:solidFill>
                <a:latin typeface="Arial"/>
              </a:rPr>
              <a:t>Each press switches to the next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Software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59" y="1645920"/>
            <a:ext cx="731520" cy="73152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aHand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828800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59" y="26060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Gesture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3337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Person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4048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MediaPipe hand tracking: volume, mute, play/pause, next/prev, scroll, zoom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0" y="1645920"/>
            <a:ext cx="731520" cy="73152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Micro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82880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0" y="26060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Voice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337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Person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Vosk offline speech recognition: open apps, screenshot, lock,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2880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26060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Face / Head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337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Person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Head moves the cursor, blink = click, face command for 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37160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26880" y="1645920"/>
            <a:ext cx="731520" cy="73152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Micro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828800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26880" y="26060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Arduino +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3337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Person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84048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Firmware, serial bridge and Flask dashboard (command log, mode toggles)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5B5B5"/>
                </a:solidFill>
                <a:latin typeface="Arial"/>
              </a:rPr>
              <a:t>Only D needs the Arduino. A, B and C develop on the laptop and print their detections.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Serial Message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9600 baud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325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TYPE:VALUE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25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ALL CAPS, no spaces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Value max 12 chars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325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Ends with newline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394960" cy="31546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Python → Arduino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057400"/>
            <a:ext cx="5394960" cy="31546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2286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Arduino →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MODE:GESTURE | VOICE | 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358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Sets the active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CMD:&lt;name&gt;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130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Shows last command on LCD line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ERR:&lt;reason&gt;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902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Red LED + LCD, e.g. ERR:NO_MIC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697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0358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Arduino booted; Python replies MODE:GESTURE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4747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B8FF"/>
                </a:solidFill>
                <a:latin typeface="Courier New"/>
              </a:rPr>
              <a:t>BTN:PRESSED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8130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5B5B5"/>
                </a:solidFill>
                <a:latin typeface="Arial"/>
              </a:rPr>
              <a:t>Button pressed; switch to the next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Rules: send events only (no streams)  ·  0.5 s cooldown per command  ·  max about 10 messages/s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Only one program can use the COM port, so close the Arduino Serial Monitor before running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Official Command Names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2704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Shared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527048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VOLUP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27048"/>
            <a:ext cx="1353312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VOLDOWN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352" y="1527048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MUTE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527048"/>
            <a:ext cx="1609344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PLAYPAUSE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527048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1704" y="1527048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PREV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244144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Gesture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441448"/>
            <a:ext cx="1481328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SCROLLUP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95928" y="2441448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SCROLLDOWN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0448" y="2441448"/>
            <a:ext cx="1225296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ZOOMIN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2441448"/>
            <a:ext cx="1353312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ZOOMOUT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35584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355848"/>
            <a:ext cx="1865376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OPEN_CHROME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3355848"/>
            <a:ext cx="1993392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OPEN_NOTEPAD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3355848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SCREENSHOT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5048" y="3355848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427024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 dirty="0">
                <a:solidFill>
                  <a:srgbClr val="000000"/>
                </a:solidFill>
                <a:latin typeface="Arial"/>
              </a:rPr>
              <a:t>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4270248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urier New"/>
              </a:rPr>
              <a:t>CLICK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4270248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300" b="1" dirty="0">
                <a:solidFill>
                  <a:srgbClr val="FFFFFF"/>
                </a:solidFill>
                <a:latin typeface="Courier New"/>
              </a:rPr>
              <a:t>LO</a:t>
            </a:r>
            <a:r>
              <a:rPr sz="1300" b="1" dirty="0">
                <a:solidFill>
                  <a:srgbClr val="FFFFFF"/>
                </a:solidFill>
                <a:latin typeface="Courier New"/>
              </a:rPr>
              <a:t>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Test output while building alone:   [GESTURE] VOLUP   [VOICE] OPEN_CHROME   [FACE] CLICK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E6E6E6"/>
                </a:solidFill>
                <a:latin typeface="Arial"/>
              </a:rPr>
              <a:t>Cursor movement is not sent to the Arduino (too many messages)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Arduino Feedback Panel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9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E2A0A"/>
                </a:solidFill>
                <a:latin typeface="Courier New"/>
              </a:rPr>
              <a:t>MODE: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E2A0A"/>
                </a:solidFill>
                <a:latin typeface="Courier New"/>
              </a:rPr>
              <a:t>Last: VOLUP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5B5B5"/>
                </a:solidFill>
                <a:latin typeface="Arial"/>
              </a:rPr>
              <a:t>16x2 I2C LCD: line 1 = mode, line 2 = last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Button press cycles the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09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47548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B5B5B5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4709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7548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B5B5B5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709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239512" cy="370332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LED indicators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225856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240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Blue · D8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2402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Gesture mode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2971800"/>
            <a:ext cx="310896" cy="3108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2953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Green · D9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535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Voice mode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3685031"/>
            <a:ext cx="310896" cy="310896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66674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Yellow · D10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66674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Face mode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4398264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43799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Red · D11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37997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5B5B5"/>
                </a:solidFill>
                <a:latin typeface="Arial"/>
              </a:rPr>
              <a:t>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Data flows both ways: Python → Arduino (status) and Arduino → Python (button press)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Development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GitHub/shared folder, install libraries, agree on the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1188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6459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Modules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4028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Each prints [SOURCE] COMMAND; Arduino hello, LEDs, button, LCD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652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459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Main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Combines modules, performs PC actions, switches modes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37160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8116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6459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Connect Arduino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4028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Button → mode change → LCD and LED update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9476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690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Flask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Command log and mode toggles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79476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1188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0690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Test and tune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66344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Lighting, noise and false triggers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9476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4652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0690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Final prep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6344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Freeze features, report, backup demo video, viva practice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794760"/>
            <a:ext cx="2651760" cy="2240280"/>
          </a:xfrm>
          <a:prstGeom prst="roundRect">
            <a:avLst>
              <a:gd name="adj" fmla="val 8000"/>
            </a:avLst>
          </a:prstGeom>
          <a:solidFill>
            <a:srgbClr val="00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81160" y="402336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Final outcome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Working model, demo and viva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Hardware Status and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240279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Arduino IDE 2.3.10 installed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26079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Board tested with the Blink example on a Windows laptop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4846320" cy="2011680"/>
          </a:xfrm>
          <a:prstGeom prst="roundRect">
            <a:avLst>
              <a:gd name="adj" fmla="val 8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Arial"/>
              </a:rPr>
              <a:t>Lesson learned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E6E6E6"/>
                </a:solidFill>
                <a:latin typeface="Arial"/>
              </a:rPr>
              <a:t>COM3 was the laptop's internal Intel port; the Arduino was COM6. Check Device Manager before selecting a 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Still to buy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01168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ACC15"/>
                </a:solidFill>
                <a:latin typeface="Arial"/>
              </a:rPr>
              <a:t>about Rs 330–555</a:t>
            </a:r>
          </a:p>
        </p:txBody>
      </p:sp>
      <p:sp>
        <p:nvSpPr>
          <p:cNvPr id="14" name="Oval 13"/>
          <p:cNvSpPr/>
          <p:nvPr/>
        </p:nvSpPr>
        <p:spPr>
          <a:xfrm>
            <a:off x="6519672" y="2999232"/>
            <a:ext cx="182880" cy="18288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16x2 I2C LCD</a:t>
            </a:r>
          </a:p>
        </p:txBody>
      </p:sp>
      <p:sp>
        <p:nvSpPr>
          <p:cNvPr id="16" name="Oval 15"/>
          <p:cNvSpPr/>
          <p:nvPr/>
        </p:nvSpPr>
        <p:spPr>
          <a:xfrm>
            <a:off x="6519672" y="3456432"/>
            <a:ext cx="182880" cy="18288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3383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4 LEDs</a:t>
            </a:r>
          </a:p>
        </p:txBody>
      </p:sp>
      <p:sp>
        <p:nvSpPr>
          <p:cNvPr id="18" name="Oval 17"/>
          <p:cNvSpPr/>
          <p:nvPr/>
        </p:nvSpPr>
        <p:spPr>
          <a:xfrm>
            <a:off x="6519672" y="3913632"/>
            <a:ext cx="182880" cy="18288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3840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220 ohm resistors</a:t>
            </a:r>
          </a:p>
        </p:txBody>
      </p:sp>
      <p:sp>
        <p:nvSpPr>
          <p:cNvPr id="20" name="Oval 19"/>
          <p:cNvSpPr/>
          <p:nvPr/>
        </p:nvSpPr>
        <p:spPr>
          <a:xfrm>
            <a:off x="6519672" y="4370832"/>
            <a:ext cx="182880" cy="18288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4297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Push buttons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4828032"/>
            <a:ext cx="182880" cy="18288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4754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830-point breadboard</a:t>
            </a:r>
          </a:p>
        </p:txBody>
      </p:sp>
      <p:sp>
        <p:nvSpPr>
          <p:cNvPr id="24" name="Oval 23"/>
          <p:cNvSpPr/>
          <p:nvPr/>
        </p:nvSpPr>
        <p:spPr>
          <a:xfrm>
            <a:off x="6519672" y="5285232"/>
            <a:ext cx="182880" cy="18288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5212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6E6E6"/>
                </a:solidFill>
                <a:latin typeface="Arial"/>
              </a:rPr>
              <a:t>Male-male and male-female jumper wires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BF63-650D-7E8D-26EA-3A47EB5D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Future Possible Upgradation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AB52-87FC-B680-3C0C-33DF5EFF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PBL which is having a small scope now, can be extended/upgraded with following features (possible PBL for Sem-VI/VII) :</a:t>
            </a:r>
          </a:p>
          <a:p>
            <a:r>
              <a:rPr lang="en-US" dirty="0"/>
              <a:t>Add more gestures and user-defined custom commands</a:t>
            </a:r>
          </a:p>
          <a:p>
            <a:r>
              <a:rPr lang="en-US" dirty="0"/>
              <a:t>Replace the USB cable with Bluetooth/Wi-Fi (HC-05 or ESP32)</a:t>
            </a:r>
          </a:p>
          <a:p>
            <a:r>
              <a:rPr lang="en-US" dirty="0"/>
              <a:t>Multi-language and noise-robust voice commands</a:t>
            </a:r>
          </a:p>
          <a:p>
            <a:r>
              <a:rPr lang="en-US" dirty="0"/>
              <a:t>Eye-gaze cursor control and smoother head tracking</a:t>
            </a:r>
          </a:p>
          <a:p>
            <a:r>
              <a:rPr lang="en-US" dirty="0"/>
              <a:t>Mobile app dashboard and multi-device control</a:t>
            </a:r>
          </a:p>
        </p:txBody>
      </p:sp>
    </p:spTree>
    <p:extLst>
      <p:ext uri="{BB962C8B-B14F-4D97-AF65-F5344CB8AC3E}">
        <p14:creationId xmlns:p14="http://schemas.microsoft.com/office/powerpoint/2010/main" val="291009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B5B5B5"/>
                </a:solidFill>
                <a:latin typeface="Arial"/>
              </a:rPr>
              <a:t>TriSense: Gesture · Voice · Face</a:t>
            </a:r>
          </a:p>
        </p:txBody>
      </p:sp>
      <p:sp>
        <p:nvSpPr>
          <p:cNvPr id="4" name="Oval 3"/>
          <p:cNvSpPr/>
          <p:nvPr/>
        </p:nvSpPr>
        <p:spPr>
          <a:xfrm>
            <a:off x="4480560" y="4114800"/>
            <a:ext cx="822960" cy="82296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aHand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4320540"/>
            <a:ext cx="411480" cy="4114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669280" y="4114800"/>
            <a:ext cx="822960" cy="82296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Micro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4320540"/>
            <a:ext cx="411480" cy="4114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858000" y="4114800"/>
            <a:ext cx="822960" cy="822960"/>
          </a:xfrm>
          <a:prstGeom prst="ellipse">
            <a:avLst/>
          </a:prstGeom>
          <a:solidFill>
            <a:srgbClr val="2F2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432054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997</Words>
  <Application>Microsoft Office PowerPoint</Application>
  <PresentationFormat>Widescreen</PresentationFormat>
  <Paragraphs>220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ADLaM Display</vt:lpstr>
      <vt:lpstr>Arial</vt:lpstr>
      <vt:lpstr>Calibri</vt:lpstr>
      <vt:lpstr>Calibri Light</vt:lpstr>
      <vt:lpstr>Century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Possible Upgradation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Aditi Khare</dc:creator>
  <cp:lastModifiedBy>Kumar Pratyush</cp:lastModifiedBy>
  <cp:revision>21</cp:revision>
  <dcterms:created xsi:type="dcterms:W3CDTF">2024-04-08T13:21:55Z</dcterms:created>
  <dcterms:modified xsi:type="dcterms:W3CDTF">2026-10-26T06:53:30Z</dcterms:modified>
</cp:coreProperties>
</file>